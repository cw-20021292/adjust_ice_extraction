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97" r:id="rId4"/>
    <p:sldId id="295" r:id="rId5"/>
    <p:sldId id="260" r:id="rId6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99694"/>
    <a:srgbClr val="E6B9B8"/>
    <a:srgbClr val="E8E8E8"/>
    <a:srgbClr val="777777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7" autoAdjust="0"/>
    <p:restoredTop sz="94660"/>
  </p:normalViewPr>
  <p:slideViewPr>
    <p:cSldViewPr snapToGrid="0">
      <p:cViewPr varScale="1">
        <p:scale>
          <a:sx n="88" d="100"/>
          <a:sy n="88" d="100"/>
        </p:scale>
        <p:origin x="131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F6D7B-A186-4A80-9CE7-5DA9CC93C035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AB746B-6E05-4E4C-9C4D-7378B87DEF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722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10724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BFE398B3-097E-4013-B793-1AF68D8727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690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19" y="566863"/>
            <a:ext cx="823206" cy="20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411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83680"/>
            <a:ext cx="9144000" cy="27432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59664"/>
          </a:xfrm>
          <a:prstGeom prst="rect">
            <a:avLst/>
          </a:prstGeom>
        </p:spPr>
      </p:pic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10724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BFE398B3-097E-4013-B793-1AF68D8727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19" y="566863"/>
            <a:ext cx="823206" cy="20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02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83680"/>
            <a:ext cx="9144000" cy="274320"/>
          </a:xfrm>
          <a:prstGeom prst="rect">
            <a:avLst/>
          </a:prstGeom>
        </p:spPr>
      </p:pic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10724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BFE398B3-097E-4013-B793-1AF68D8727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5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07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83680"/>
            <a:ext cx="9144000" cy="274320"/>
          </a:xfrm>
          <a:prstGeom prst="rect">
            <a:avLst/>
          </a:prstGeom>
        </p:spPr>
      </p:pic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10724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BFE398B3-097E-4013-B793-1AF68D8727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59664"/>
          </a:xfrm>
          <a:prstGeom prst="rect">
            <a:avLst/>
          </a:prstGeom>
        </p:spPr>
      </p:pic>
      <p:sp>
        <p:nvSpPr>
          <p:cNvPr id="5" name="직사각형 4"/>
          <p:cNvSpPr/>
          <p:nvPr userDrawn="1"/>
        </p:nvSpPr>
        <p:spPr>
          <a:xfrm>
            <a:off x="0" y="678994"/>
            <a:ext cx="9144000" cy="3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75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19" y="566863"/>
            <a:ext cx="823206" cy="20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167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10724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BFE398B3-097E-4013-B793-1AF68D8727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619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637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10724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BFE398B3-097E-4013-B793-1AF68D8727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459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10724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BFE398B3-097E-4013-B793-1AF68D8727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3433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151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0639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61" r:id="rId3"/>
    <p:sldLayoutId id="2147483668" r:id="rId4"/>
    <p:sldLayoutId id="2147483674" r:id="rId5"/>
    <p:sldLayoutId id="2147483662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111251"/>
            <a:ext cx="9143999" cy="2352674"/>
          </a:xfrm>
          <a:prstGeom prst="rect">
            <a:avLst/>
          </a:prstGeom>
          <a:solidFill>
            <a:srgbClr val="77777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2115361" y="726236"/>
            <a:ext cx="6669313" cy="169277"/>
            <a:chOff x="2115361" y="726236"/>
            <a:chExt cx="6669313" cy="169277"/>
          </a:xfrm>
        </p:grpSpPr>
        <p:sp>
          <p:nvSpPr>
            <p:cNvPr id="3" name="TextBox 9"/>
            <p:cNvSpPr txBox="1">
              <a:spLocks noChangeArrowheads="1"/>
            </p:cNvSpPr>
            <p:nvPr/>
          </p:nvSpPr>
          <p:spPr bwMode="auto">
            <a:xfrm>
              <a:off x="2115361" y="726236"/>
              <a:ext cx="1812530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b">
              <a:spAutoFit/>
            </a:bodyPr>
            <a:lstStyle/>
            <a:p>
              <a:pPr>
                <a:defRPr/>
              </a:pPr>
              <a:r>
                <a:rPr lang="en-US" altLang="ko-KR" sz="1100" kern="1800" spc="-70" dirty="0">
                  <a:solidFill>
                    <a:srgbClr val="6C6560"/>
                  </a:solidFill>
                  <a:latin typeface="+mn-ea"/>
                </a:rPr>
                <a:t>Water</a:t>
              </a:r>
              <a:r>
                <a:rPr lang="ko-KR" altLang="en-US" sz="1100" kern="1800" spc="-70" dirty="0">
                  <a:solidFill>
                    <a:srgbClr val="6C6560"/>
                  </a:solidFill>
                  <a:latin typeface="+mn-ea"/>
                </a:rPr>
                <a:t>전장개발팀</a:t>
              </a:r>
              <a:endParaRPr kumimoji="0" lang="ko-KR" altLang="en-US" sz="1100" kern="1800" spc="-70" dirty="0">
                <a:solidFill>
                  <a:srgbClr val="6C6560"/>
                </a:solidFill>
                <a:latin typeface="+mn-ea"/>
              </a:endParaRPr>
            </a:p>
          </p:txBody>
        </p:sp>
        <p:sp>
          <p:nvSpPr>
            <p:cNvPr id="4" name="TextBox 9"/>
            <p:cNvSpPr txBox="1">
              <a:spLocks noChangeArrowheads="1"/>
            </p:cNvSpPr>
            <p:nvPr/>
          </p:nvSpPr>
          <p:spPr bwMode="auto">
            <a:xfrm>
              <a:off x="4076514" y="726236"/>
              <a:ext cx="1812530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-KR" sz="1100" dirty="0">
                  <a:solidFill>
                    <a:srgbClr val="6C6560"/>
                  </a:solidFill>
                  <a:latin typeface="Calibri"/>
                  <a:ea typeface="Calibri"/>
                  <a:cs typeface="Calibri"/>
                  <a:sym typeface="Calibri"/>
                </a:rPr>
                <a:t>Water</a:t>
              </a:r>
              <a:r>
                <a:rPr lang="ko-KR" altLang="en-US" sz="1100" dirty="0">
                  <a:solidFill>
                    <a:srgbClr val="6C6560"/>
                  </a:solidFill>
                  <a:latin typeface="Calibri"/>
                  <a:ea typeface="Calibri"/>
                  <a:cs typeface="Calibri"/>
                  <a:sym typeface="Calibri"/>
                </a:rPr>
                <a:t>전장개발</a:t>
              </a:r>
              <a:r>
                <a:rPr lang="ko-KR" altLang="en-US" sz="1100" b="0" i="0" u="none" strike="noStrike" cap="none" dirty="0">
                  <a:solidFill>
                    <a:srgbClr val="6C6560"/>
                  </a:solidFill>
                  <a:latin typeface="Calibri"/>
                  <a:ea typeface="Calibri"/>
                  <a:cs typeface="Calibri"/>
                  <a:sym typeface="Calibri"/>
                </a:rPr>
                <a:t>팀</a:t>
              </a:r>
            </a:p>
          </p:txBody>
        </p:sp>
        <p:sp>
          <p:nvSpPr>
            <p:cNvPr id="5" name="TextBox 9"/>
            <p:cNvSpPr txBox="1">
              <a:spLocks noChangeArrowheads="1"/>
            </p:cNvSpPr>
            <p:nvPr/>
          </p:nvSpPr>
          <p:spPr bwMode="auto">
            <a:xfrm>
              <a:off x="6037667" y="726236"/>
              <a:ext cx="1301963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b">
              <a:spAutoFit/>
            </a:bodyPr>
            <a:lstStyle/>
            <a:p>
              <a:pPr>
                <a:defRPr/>
              </a:pPr>
              <a:r>
                <a:rPr lang="en-US" altLang="ko-KR" sz="1100" kern="1800" dirty="0">
                  <a:solidFill>
                    <a:srgbClr val="6C6560"/>
                  </a:solidFill>
                  <a:latin typeface="+mn-ea"/>
                </a:rPr>
                <a:t>25</a:t>
              </a:r>
              <a:r>
                <a:rPr kumimoji="0" lang="en-US" altLang="ko-KR" sz="1100" kern="1800" dirty="0">
                  <a:solidFill>
                    <a:srgbClr val="6C6560"/>
                  </a:solidFill>
                  <a:latin typeface="+mn-ea"/>
                </a:rPr>
                <a:t>.</a:t>
              </a:r>
              <a:r>
                <a:rPr lang="en-US" altLang="ko-KR" sz="1100" kern="1800" dirty="0">
                  <a:solidFill>
                    <a:srgbClr val="6C6560"/>
                  </a:solidFill>
                  <a:latin typeface="+mn-ea"/>
                </a:rPr>
                <a:t>10</a:t>
              </a:r>
              <a:r>
                <a:rPr kumimoji="0" lang="en-US" altLang="ko-KR" sz="1100" kern="1800" dirty="0">
                  <a:solidFill>
                    <a:srgbClr val="6C6560"/>
                  </a:solidFill>
                  <a:latin typeface="+mn-ea"/>
                </a:rPr>
                <a:t>.XX</a:t>
              </a:r>
              <a:endParaRPr kumimoji="0" lang="ko-KR" altLang="en-US" sz="1100" kern="1800" dirty="0">
                <a:solidFill>
                  <a:srgbClr val="6C6560"/>
                </a:solidFill>
                <a:latin typeface="+mn-ea"/>
              </a:endParaRPr>
            </a:p>
          </p:txBody>
        </p:sp>
        <p:sp>
          <p:nvSpPr>
            <p:cNvPr id="6" name="TextBox 9"/>
            <p:cNvSpPr txBox="1">
              <a:spLocks noChangeArrowheads="1"/>
            </p:cNvSpPr>
            <p:nvPr/>
          </p:nvSpPr>
          <p:spPr bwMode="auto">
            <a:xfrm>
              <a:off x="7482711" y="726236"/>
              <a:ext cx="1301963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b">
              <a:spAutoFit/>
            </a:bodyPr>
            <a:lstStyle/>
            <a:p>
              <a:pPr>
                <a:defRPr/>
              </a:pPr>
              <a:r>
                <a:rPr lang="en-US" altLang="ko-KR" sz="1100" kern="1800" dirty="0">
                  <a:solidFill>
                    <a:srgbClr val="6C6560"/>
                  </a:solidFill>
                  <a:latin typeface="+mn-ea"/>
                </a:rPr>
                <a:t>30.10.XX</a:t>
              </a:r>
              <a:endParaRPr lang="ko-KR" altLang="en-US" sz="1100" kern="1800" dirty="0">
                <a:solidFill>
                  <a:srgbClr val="6C6560"/>
                </a:solidFill>
                <a:latin typeface="+mn-ea"/>
              </a:endParaRPr>
            </a:p>
          </p:txBody>
        </p:sp>
      </p:grpSp>
      <p:sp>
        <p:nvSpPr>
          <p:cNvPr id="8" name="TextBox 9"/>
          <p:cNvSpPr txBox="1">
            <a:spLocks noChangeArrowheads="1"/>
          </p:cNvSpPr>
          <p:nvPr/>
        </p:nvSpPr>
        <p:spPr bwMode="auto">
          <a:xfrm>
            <a:off x="0" y="1631246"/>
            <a:ext cx="9143999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ko-KR" altLang="en-US" sz="3800" b="1" kern="1100" spc="-200" dirty="0" err="1">
                <a:solidFill>
                  <a:srgbClr val="5D4C41"/>
                </a:solidFill>
                <a:latin typeface="+mn-ea"/>
              </a:rPr>
              <a:t>일반얼음</a:t>
            </a:r>
            <a:r>
              <a:rPr kumimoji="0" lang="ko-KR" altLang="en-US" sz="3800" b="1" kern="1100" spc="-200" dirty="0">
                <a:solidFill>
                  <a:srgbClr val="5D4C41"/>
                </a:solidFill>
                <a:latin typeface="+mn-ea"/>
              </a:rPr>
              <a:t> 정량추출 </a:t>
            </a:r>
            <a:endParaRPr kumimoji="0" lang="en-US" altLang="ko-KR" sz="3800" b="1" kern="1100" spc="-200" dirty="0">
              <a:solidFill>
                <a:srgbClr val="5D4C41"/>
              </a:solidFill>
              <a:latin typeface="+mn-ea"/>
            </a:endParaRPr>
          </a:p>
          <a:p>
            <a:pPr algn="ctr">
              <a:defRPr/>
            </a:pPr>
            <a:r>
              <a:rPr kumimoji="0" lang="ko-KR" altLang="en-US" sz="3800" b="1" kern="1100" spc="-200">
                <a:solidFill>
                  <a:srgbClr val="5D4C41"/>
                </a:solidFill>
                <a:latin typeface="+mn-ea"/>
              </a:rPr>
              <a:t>제어사양 제안보고서</a:t>
            </a:r>
            <a:endParaRPr kumimoji="0" lang="en-US" altLang="ko-KR" sz="3800" b="1" kern="1100" spc="-200" dirty="0">
              <a:solidFill>
                <a:srgbClr val="5D4C41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3800" b="1" kern="1100" spc="-200" dirty="0">
                <a:solidFill>
                  <a:srgbClr val="5D4C41"/>
                </a:solidFill>
                <a:latin typeface="+mn-ea"/>
              </a:rPr>
              <a:t>[</a:t>
            </a:r>
            <a:r>
              <a:rPr lang="ko-KR" altLang="en-US" sz="3800" b="1" kern="1100" spc="-200" dirty="0">
                <a:solidFill>
                  <a:srgbClr val="5D4C41"/>
                </a:solidFill>
                <a:latin typeface="+mn-ea"/>
              </a:rPr>
              <a:t>일반 얼음 추출</a:t>
            </a:r>
            <a:r>
              <a:rPr lang="en-US" altLang="ko-KR" sz="3800" b="1" kern="1100" spc="-200" dirty="0">
                <a:solidFill>
                  <a:srgbClr val="5D4C41"/>
                </a:solidFill>
                <a:latin typeface="+mn-ea"/>
              </a:rPr>
              <a:t>]</a:t>
            </a:r>
            <a:endParaRPr kumimoji="0" lang="ko-KR" altLang="en-US" sz="3800" b="1" kern="1100" spc="-200" dirty="0">
              <a:solidFill>
                <a:srgbClr val="5D4C41"/>
              </a:solidFill>
              <a:latin typeface="+mn-ea"/>
            </a:endParaRPr>
          </a:p>
        </p:txBody>
      </p:sp>
      <p:sp>
        <p:nvSpPr>
          <p:cNvPr id="9" name="TextBox 9"/>
          <p:cNvSpPr txBox="1">
            <a:spLocks noChangeArrowheads="1"/>
          </p:cNvSpPr>
          <p:nvPr/>
        </p:nvSpPr>
        <p:spPr bwMode="auto">
          <a:xfrm>
            <a:off x="2005457" y="4094519"/>
            <a:ext cx="540067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kumimoji="0" lang="ko-KR" altLang="en-US" sz="1600" kern="1100" dirty="0">
                <a:solidFill>
                  <a:srgbClr val="5D4C41"/>
                </a:solidFill>
                <a:latin typeface="+mn-ea"/>
              </a:rPr>
              <a:t>환경기술연구소</a:t>
            </a:r>
            <a:endParaRPr kumimoji="0" lang="en-US" altLang="ko-KR" sz="1600" kern="1100" dirty="0">
              <a:solidFill>
                <a:srgbClr val="5D4C41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600" kern="1100" dirty="0">
                <a:solidFill>
                  <a:srgbClr val="5D4C41"/>
                </a:solidFill>
                <a:latin typeface="+mn-ea"/>
              </a:rPr>
              <a:t>25.12.23</a:t>
            </a:r>
            <a:endParaRPr kumimoji="0" lang="ko-KR" altLang="en-US" sz="1600" kern="1100" dirty="0">
              <a:solidFill>
                <a:srgbClr val="5D4C41"/>
              </a:solidFill>
              <a:latin typeface="+mn-ea"/>
            </a:endParaRPr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888079"/>
              </p:ext>
            </p:extLst>
          </p:nvPr>
        </p:nvGraphicFramePr>
        <p:xfrm>
          <a:off x="5796136" y="5157192"/>
          <a:ext cx="3212465" cy="624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035">
                <a:tc>
                  <a:txBody>
                    <a:bodyPr/>
                    <a:lstStyle/>
                    <a:p>
                      <a:pPr lvl="0" algn="r" latinLnBrk="1"/>
                      <a:r>
                        <a:rPr lang="ko-KR" alt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25.</a:t>
                      </a:r>
                      <a:r>
                        <a:rPr lang="en-US" altLang="ko-KR" sz="11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10.00. ~ 26.01.00.</a:t>
                      </a: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35">
                <a:tc>
                  <a:txBody>
                    <a:bodyPr/>
                    <a:lstStyle/>
                    <a:p>
                      <a:pPr lvl="0" algn="r" latinLnBrk="1"/>
                      <a:r>
                        <a:rPr lang="ko-KR" alt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연구원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박찬흠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선임</a:t>
                      </a:r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직사각형 29"/>
          <p:cNvSpPr/>
          <p:nvPr/>
        </p:nvSpPr>
        <p:spPr>
          <a:xfrm>
            <a:off x="9272537" y="351827"/>
            <a:ext cx="3671938" cy="274379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u="sng" dirty="0">
                <a:solidFill>
                  <a:srgbClr val="FF0000"/>
                </a:solidFill>
                <a:latin typeface="+mn-ea"/>
              </a:rPr>
              <a:t>작성 전 필독</a:t>
            </a:r>
            <a:r>
              <a:rPr lang="ko-KR" altLang="en-US" sz="11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100" b="1" dirty="0">
                <a:solidFill>
                  <a:srgbClr val="FF0000"/>
                </a:solidFill>
                <a:latin typeface="+mn-ea"/>
              </a:rPr>
              <a:t>: &lt; </a:t>
            </a:r>
            <a:r>
              <a:rPr lang="ko-KR" altLang="en-US" sz="1100" b="1" dirty="0">
                <a:solidFill>
                  <a:srgbClr val="FF0000"/>
                </a:solidFill>
                <a:latin typeface="+mn-ea"/>
              </a:rPr>
              <a:t>기술과제계획서 작성 시 안내사항 </a:t>
            </a:r>
            <a:r>
              <a:rPr lang="en-US" altLang="ko-KR" sz="1100" b="1" dirty="0">
                <a:solidFill>
                  <a:srgbClr val="FF0000"/>
                </a:solidFill>
                <a:latin typeface="+mn-ea"/>
              </a:rPr>
              <a:t>&gt;</a:t>
            </a:r>
          </a:p>
          <a:p>
            <a:endParaRPr lang="en-US" altLang="ko-KR" sz="1000" dirty="0">
              <a:solidFill>
                <a:prstClr val="black"/>
              </a:solidFill>
              <a:latin typeface="+mn-ea"/>
            </a:endParaRPr>
          </a:p>
          <a:p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-. </a:t>
            </a:r>
            <a:r>
              <a:rPr lang="ko-KR" altLang="en-US" sz="1000" dirty="0" err="1">
                <a:solidFill>
                  <a:prstClr val="black"/>
                </a:solidFill>
                <a:latin typeface="+mn-ea"/>
              </a:rPr>
              <a:t>장표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 우측 상단에 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‘</a:t>
            </a:r>
            <a:r>
              <a:rPr lang="ko-KR" altLang="en-US" sz="1000" b="1" u="sng" dirty="0">
                <a:solidFill>
                  <a:srgbClr val="C00000"/>
                </a:solidFill>
                <a:latin typeface="+mn-ea"/>
              </a:rPr>
              <a:t>필수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’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표시가 되어있는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00" dirty="0" err="1">
                <a:solidFill>
                  <a:prstClr val="black"/>
                </a:solidFill>
                <a:latin typeface="+mn-ea"/>
              </a:rPr>
              <a:t>장표는</a:t>
            </a:r>
            <a:endParaRPr lang="en-US" altLang="ko-KR" sz="1000" dirty="0">
              <a:solidFill>
                <a:prstClr val="black"/>
              </a:solidFill>
              <a:latin typeface="+mn-ea"/>
            </a:endParaRPr>
          </a:p>
          <a:p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  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필히 작성해주시기 바랍니다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endParaRPr lang="en-US" altLang="ko-KR" sz="1000" dirty="0">
              <a:solidFill>
                <a:prstClr val="black"/>
              </a:solidFill>
              <a:latin typeface="+mn-ea"/>
            </a:endParaRPr>
          </a:p>
          <a:p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-. ‘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필수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’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가 아닌 경우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자유롭게 작성해주시면 되며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  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작성을 생략하신 경우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b="1" u="sng" dirty="0">
                <a:solidFill>
                  <a:srgbClr val="0070C0"/>
                </a:solidFill>
                <a:latin typeface="+mn-ea"/>
              </a:rPr>
              <a:t>목차</a:t>
            </a:r>
            <a:r>
              <a:rPr lang="en-US" altLang="ko-KR" sz="1000" b="1" u="sng" dirty="0">
                <a:solidFill>
                  <a:srgbClr val="0070C0"/>
                </a:solidFill>
                <a:latin typeface="+mn-ea"/>
              </a:rPr>
              <a:t>(8page)</a:t>
            </a:r>
            <a:r>
              <a:rPr lang="ko-KR" altLang="en-US" sz="1000" b="1" u="sng" dirty="0">
                <a:solidFill>
                  <a:srgbClr val="0070C0"/>
                </a:solidFill>
                <a:latin typeface="+mn-ea"/>
              </a:rPr>
              <a:t>에 </a:t>
            </a:r>
            <a:r>
              <a:rPr lang="en-US" altLang="ko-KR" sz="1000" b="1" u="sng" dirty="0">
                <a:solidFill>
                  <a:srgbClr val="0070C0"/>
                </a:solidFill>
                <a:latin typeface="+mn-ea"/>
              </a:rPr>
              <a:t>‘</a:t>
            </a:r>
            <a:r>
              <a:rPr lang="ko-KR" altLang="en-US" sz="1000" b="1" u="sng" dirty="0">
                <a:solidFill>
                  <a:srgbClr val="0070C0"/>
                </a:solidFill>
                <a:latin typeface="+mn-ea"/>
              </a:rPr>
              <a:t>생략사유</a:t>
            </a:r>
            <a:r>
              <a:rPr lang="en-US" altLang="ko-KR" sz="1000" b="1" u="sng" dirty="0">
                <a:solidFill>
                  <a:srgbClr val="0070C0"/>
                </a:solidFill>
                <a:latin typeface="+mn-ea"/>
              </a:rPr>
              <a:t>’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만</a:t>
            </a:r>
            <a:endParaRPr lang="en-US" altLang="ko-KR" sz="1000" dirty="0">
              <a:solidFill>
                <a:prstClr val="black"/>
              </a:solidFill>
              <a:latin typeface="+mn-ea"/>
            </a:endParaRPr>
          </a:p>
          <a:p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  기입 부탁 드리겠습니다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   (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아울러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생략하신 페이지는 페이지 삭제 해주시면 됩니다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)</a:t>
            </a:r>
          </a:p>
          <a:p>
            <a:endParaRPr lang="en-US" altLang="ko-KR" sz="10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9272538" y="0"/>
            <a:ext cx="1328787" cy="319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FFFF00"/>
                </a:solidFill>
                <a:latin typeface="+mn-ea"/>
              </a:rPr>
              <a:t>표지</a:t>
            </a:r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2237" y="610359"/>
            <a:ext cx="422039" cy="247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직사각형 13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</p:spTree>
    <p:extLst>
      <p:ext uri="{BB962C8B-B14F-4D97-AF65-F5344CB8AC3E}">
        <p14:creationId xmlns:p14="http://schemas.microsoft.com/office/powerpoint/2010/main" val="1478976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680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E182AE8-2110-3899-0F4B-94705F04F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883668"/>
              </p:ext>
            </p:extLst>
          </p:nvPr>
        </p:nvGraphicFramePr>
        <p:xfrm>
          <a:off x="218747" y="1358537"/>
          <a:ext cx="8706506" cy="430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122">
                  <a:extLst>
                    <a:ext uri="{9D8B030D-6E8A-4147-A177-3AD203B41FA5}">
                      <a16:colId xmlns:a16="http://schemas.microsoft.com/office/drawing/2014/main" val="3518295623"/>
                    </a:ext>
                  </a:extLst>
                </a:gridCol>
                <a:gridCol w="3555649">
                  <a:extLst>
                    <a:ext uri="{9D8B030D-6E8A-4147-A177-3AD203B41FA5}">
                      <a16:colId xmlns:a16="http://schemas.microsoft.com/office/drawing/2014/main" val="2646214116"/>
                    </a:ext>
                  </a:extLst>
                </a:gridCol>
                <a:gridCol w="4080735">
                  <a:extLst>
                    <a:ext uri="{9D8B030D-6E8A-4147-A177-3AD203B41FA5}">
                      <a16:colId xmlns:a16="http://schemas.microsoft.com/office/drawing/2014/main" val="332724775"/>
                    </a:ext>
                  </a:extLst>
                </a:gridCol>
              </a:tblGrid>
              <a:tr h="448741">
                <a:tc>
                  <a:txBody>
                    <a:bodyPr/>
                    <a:lstStyle/>
                    <a:p>
                      <a:pPr algn="ctr" latinLnBrk="1"/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방식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 방식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080919"/>
                  </a:ext>
                </a:extLst>
              </a:tr>
              <a:tr h="2584683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피더모터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</a:p>
                    <a:p>
                      <a:pPr marL="0" indent="0" algn="ctr" latinLnBrk="1">
                        <a:buNone/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이너도어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ctr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ctr" latinLnBrk="1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제어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방식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arenR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이전에 얼음추출을 수행했던 이력과 상관없이 단순 시간 제어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buAutoNum type="arabicParenR"/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일반얼음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추출 시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이너도어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Full Open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을 수행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arenR"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S/W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내부적으로 </a:t>
                      </a:r>
                      <a:r>
                        <a:rPr lang="ko-KR" altLang="en-US" sz="120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얼음 추출단계</a:t>
                      </a:r>
                      <a:r>
                        <a:rPr lang="en-US" altLang="ko-KR" sz="120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200" b="1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쏠림지수</a:t>
                      </a:r>
                      <a:r>
                        <a:rPr lang="en-US" altLang="ko-KR" sz="120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200" b="1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얼음양</a:t>
                      </a:r>
                      <a:r>
                        <a:rPr lang="ko-KR" altLang="en-US" sz="120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r>
                        <a:rPr lang="ko-KR" altLang="en-US" sz="120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 변수에 따라 </a:t>
                      </a:r>
                      <a:r>
                        <a:rPr lang="ko-KR" altLang="en-US" sz="1200" b="1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이너도어</a:t>
                      </a:r>
                      <a:r>
                        <a:rPr lang="ko-KR" altLang="en-US" sz="120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및 </a:t>
                      </a:r>
                      <a:r>
                        <a:rPr lang="ko-KR" altLang="en-US" sz="1200" b="1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피더모터</a:t>
                      </a:r>
                      <a:r>
                        <a:rPr lang="ko-KR" altLang="en-US" sz="120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제어를 세부적으로 나눔</a:t>
                      </a:r>
                      <a:endParaRPr lang="en-US" altLang="ko-KR" sz="120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변수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(1)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얼음 추출단계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사용자의 선택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변수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(2)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현재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얼음양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저빙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중빙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만빙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변수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(3)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쏠림지수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0 ~ 1.0 (0.1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단위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 이전에 총 누적해서 얼음을 추출한 시간으로 추출하면 할수록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쏠림지수를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+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가산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※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쏠림지수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및 현재 얼음양에 따라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이너도어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Open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의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%, Feeder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정방향의 시간을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디테일하게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적용하면서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일반얼음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추출을 수행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979103"/>
                  </a:ext>
                </a:extLst>
              </a:tr>
              <a:tr h="1268610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피더모터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ctr" latinLnBrk="1">
                        <a:buNone/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정역회전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ctr" latinLnBrk="1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제어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추출 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탈빙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후 역회전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정역회전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수행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분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30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분마다 </a:t>
                      </a:r>
                      <a:r>
                        <a:rPr lang="ko-KR" altLang="en-US" sz="1200" b="1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쏠림지수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누적되어 있으면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 될 때까지 주기적으로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Feeder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정역회전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및 역회전 제어를 수행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※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정역회전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0.5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초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초 역회전 등 각 제어에 대해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쏠림지수를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–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감산하는 정도는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정해야함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817400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51520" y="4616"/>
            <a:ext cx="8640960" cy="62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1-1.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기술 개발 배경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4BB7B4-3A5A-0A02-224A-9AD7C7C4DFF9}"/>
              </a:ext>
            </a:extLst>
          </p:cNvPr>
          <p:cNvSpPr txBox="1"/>
          <p:nvPr/>
        </p:nvSpPr>
        <p:spPr>
          <a:xfrm>
            <a:off x="428596" y="775590"/>
            <a:ext cx="8286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4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아이콘얼음</a:t>
            </a: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맥스 </a:t>
            </a:r>
            <a:r>
              <a:rPr lang="ko-KR" altLang="en-US" sz="24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일반얼음</a:t>
            </a: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정량추출 </a:t>
            </a:r>
            <a:r>
              <a:rPr lang="en-US" altLang="ko-KR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S/W </a:t>
            </a: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</a:t>
            </a:r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222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E182AE8-2110-3899-0F4B-94705F04F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657904"/>
              </p:ext>
            </p:extLst>
          </p:nvPr>
        </p:nvGraphicFramePr>
        <p:xfrm>
          <a:off x="174171" y="838200"/>
          <a:ext cx="8823144" cy="3424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2766">
                  <a:extLst>
                    <a:ext uri="{9D8B030D-6E8A-4147-A177-3AD203B41FA5}">
                      <a16:colId xmlns:a16="http://schemas.microsoft.com/office/drawing/2014/main" val="2646214116"/>
                    </a:ext>
                  </a:extLst>
                </a:gridCol>
                <a:gridCol w="5200378">
                  <a:extLst>
                    <a:ext uri="{9D8B030D-6E8A-4147-A177-3AD203B41FA5}">
                      <a16:colId xmlns:a16="http://schemas.microsoft.com/office/drawing/2014/main" val="332724775"/>
                    </a:ext>
                  </a:extLst>
                </a:gridCol>
              </a:tblGrid>
              <a:tr h="2551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방식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 방식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080919"/>
                  </a:ext>
                </a:extLst>
              </a:tr>
              <a:tr h="316509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 기존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일반얼음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추출 시간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 아이스도어 제어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-.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추출 시작 시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 얼음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단계 추출 시 테이블 예시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단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모든 케이스에 대한 테스트가 필요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979103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51520" y="4616"/>
            <a:ext cx="8640960" cy="62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1-1.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기술 개발 배경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C718457-C03A-E5B3-8B06-992550CBA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841396"/>
              </p:ext>
            </p:extLst>
          </p:nvPr>
        </p:nvGraphicFramePr>
        <p:xfrm>
          <a:off x="357053" y="1472170"/>
          <a:ext cx="3283131" cy="189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94">
                  <a:extLst>
                    <a:ext uri="{9D8B030D-6E8A-4147-A177-3AD203B41FA5}">
                      <a16:colId xmlns:a16="http://schemas.microsoft.com/office/drawing/2014/main" val="1593065267"/>
                    </a:ext>
                  </a:extLst>
                </a:gridCol>
                <a:gridCol w="2726837">
                  <a:extLst>
                    <a:ext uri="{9D8B030D-6E8A-4147-A177-3AD203B41FA5}">
                      <a16:colId xmlns:a16="http://schemas.microsoft.com/office/drawing/2014/main" val="20542636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추출 단계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추출시간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698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단계</a:t>
                      </a:r>
                      <a:endParaRPr lang="en-US" altLang="ko-KR" sz="105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4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(4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전진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05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279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2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단계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6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(4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전진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, 1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정지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, 1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전진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05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119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3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단계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7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(4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전진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, 1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정지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, 2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전진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05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308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4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단계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8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(4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전진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, 1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정지</a:t>
                      </a:r>
                      <a:r>
                        <a:rPr lang="en-US" altLang="ko-KR" sz="1050">
                          <a:latin typeface="+mj-ea"/>
                          <a:ea typeface="+mj-ea"/>
                        </a:rPr>
                        <a:t>, 3</a:t>
                      </a:r>
                      <a:r>
                        <a:rPr lang="ko-KR" altLang="en-US" sz="1050">
                          <a:latin typeface="+mj-ea"/>
                          <a:ea typeface="+mj-ea"/>
                        </a:rPr>
                        <a:t>초 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전진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05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99728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A47EF20-BA9A-11C9-E5A9-722444AD9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89387"/>
              </p:ext>
            </p:extLst>
          </p:nvPr>
        </p:nvGraphicFramePr>
        <p:xfrm>
          <a:off x="3954720" y="1410181"/>
          <a:ext cx="4937760" cy="20188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6110">
                  <a:extLst>
                    <a:ext uri="{9D8B030D-6E8A-4147-A177-3AD203B41FA5}">
                      <a16:colId xmlns:a16="http://schemas.microsoft.com/office/drawing/2014/main" val="2183536975"/>
                    </a:ext>
                  </a:extLst>
                </a:gridCol>
                <a:gridCol w="625051">
                  <a:extLst>
                    <a:ext uri="{9D8B030D-6E8A-4147-A177-3AD203B41FA5}">
                      <a16:colId xmlns:a16="http://schemas.microsoft.com/office/drawing/2014/main" val="3006799769"/>
                    </a:ext>
                  </a:extLst>
                </a:gridCol>
                <a:gridCol w="606110">
                  <a:extLst>
                    <a:ext uri="{9D8B030D-6E8A-4147-A177-3AD203B41FA5}">
                      <a16:colId xmlns:a16="http://schemas.microsoft.com/office/drawing/2014/main" val="2451114329"/>
                    </a:ext>
                  </a:extLst>
                </a:gridCol>
                <a:gridCol w="606110">
                  <a:extLst>
                    <a:ext uri="{9D8B030D-6E8A-4147-A177-3AD203B41FA5}">
                      <a16:colId xmlns:a16="http://schemas.microsoft.com/office/drawing/2014/main" val="2454881842"/>
                    </a:ext>
                  </a:extLst>
                </a:gridCol>
                <a:gridCol w="606110">
                  <a:extLst>
                    <a:ext uri="{9D8B030D-6E8A-4147-A177-3AD203B41FA5}">
                      <a16:colId xmlns:a16="http://schemas.microsoft.com/office/drawing/2014/main" val="2962592921"/>
                    </a:ext>
                  </a:extLst>
                </a:gridCol>
                <a:gridCol w="629423">
                  <a:extLst>
                    <a:ext uri="{9D8B030D-6E8A-4147-A177-3AD203B41FA5}">
                      <a16:colId xmlns:a16="http://schemas.microsoft.com/office/drawing/2014/main" val="758716454"/>
                    </a:ext>
                  </a:extLst>
                </a:gridCol>
                <a:gridCol w="629423">
                  <a:extLst>
                    <a:ext uri="{9D8B030D-6E8A-4147-A177-3AD203B41FA5}">
                      <a16:colId xmlns:a16="http://schemas.microsoft.com/office/drawing/2014/main" val="689580023"/>
                    </a:ext>
                  </a:extLst>
                </a:gridCol>
                <a:gridCol w="629423">
                  <a:extLst>
                    <a:ext uri="{9D8B030D-6E8A-4147-A177-3AD203B41FA5}">
                      <a16:colId xmlns:a16="http://schemas.microsoft.com/office/drawing/2014/main" val="3818763366"/>
                    </a:ext>
                  </a:extLst>
                </a:gridCol>
              </a:tblGrid>
              <a:tr h="125022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 err="1">
                          <a:effectLst/>
                        </a:rPr>
                        <a:t>쏠림지수</a:t>
                      </a:r>
                      <a:r>
                        <a:rPr lang="ko-KR" altLang="en-US" sz="9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900" b="1" u="none" strike="noStrike" dirty="0">
                          <a:effectLst/>
                        </a:rPr>
                        <a:t>/ </a:t>
                      </a:r>
                      <a:r>
                        <a:rPr lang="ko-KR" altLang="en-US" sz="900" b="1" u="none" strike="noStrike" dirty="0" err="1">
                          <a:effectLst/>
                        </a:rPr>
                        <a:t>얼음양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>
                          <a:effectLst/>
                        </a:rPr>
                        <a:t>저빙 </a:t>
                      </a:r>
                      <a:r>
                        <a:rPr lang="en-US" altLang="ko-KR" sz="900" b="1" u="none" strike="noStrike">
                          <a:effectLst/>
                        </a:rPr>
                        <a:t>(</a:t>
                      </a:r>
                      <a:r>
                        <a:rPr lang="ko-KR" altLang="en-US" sz="900" b="1" u="none" strike="noStrike">
                          <a:effectLst/>
                        </a:rPr>
                        <a:t>부족</a:t>
                      </a:r>
                      <a:r>
                        <a:rPr lang="en-US" altLang="ko-KR" sz="900" b="1" u="none" strike="noStrike">
                          <a:effectLst/>
                        </a:rPr>
                        <a:t>)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>
                          <a:effectLst/>
                        </a:rPr>
                        <a:t>중빙 </a:t>
                      </a:r>
                      <a:r>
                        <a:rPr lang="en-US" altLang="ko-KR" sz="900" b="1" u="none" strike="noStrike">
                          <a:effectLst/>
                        </a:rPr>
                        <a:t>(</a:t>
                      </a:r>
                      <a:r>
                        <a:rPr lang="ko-KR" altLang="en-US" sz="900" b="1" u="none" strike="noStrike">
                          <a:effectLst/>
                        </a:rPr>
                        <a:t>중간</a:t>
                      </a:r>
                      <a:r>
                        <a:rPr lang="en-US" altLang="ko-KR" sz="900" b="1" u="none" strike="noStrike">
                          <a:effectLst/>
                        </a:rPr>
                        <a:t>)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 err="1">
                          <a:effectLst/>
                        </a:rPr>
                        <a:t>만빙</a:t>
                      </a:r>
                      <a:r>
                        <a:rPr lang="ko-KR" altLang="en-US" sz="9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900" b="1" u="none" strike="noStrike" dirty="0">
                          <a:effectLst/>
                        </a:rPr>
                        <a:t>(</a:t>
                      </a:r>
                      <a:r>
                        <a:rPr lang="ko-KR" altLang="en-US" sz="900" b="1" u="none" strike="noStrike" dirty="0">
                          <a:effectLst/>
                        </a:rPr>
                        <a:t>가득</a:t>
                      </a:r>
                      <a:r>
                        <a:rPr lang="en-US" altLang="ko-KR" sz="900" b="1" u="none" strike="noStrike" dirty="0">
                          <a:effectLst/>
                        </a:rPr>
                        <a:t>)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719940"/>
                  </a:ext>
                </a:extLst>
              </a:tr>
              <a:tr h="243494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 err="1">
                          <a:effectLst/>
                        </a:rPr>
                        <a:t>이너도어</a:t>
                      </a:r>
                      <a:r>
                        <a:rPr lang="ko-KR" altLang="en-US" sz="900" b="1" u="none" strike="noStrike" dirty="0">
                          <a:effectLst/>
                        </a:rPr>
                        <a:t> </a:t>
                      </a:r>
                      <a:r>
                        <a:rPr lang="en-US" sz="900" b="1" u="none" strike="noStrike" dirty="0">
                          <a:effectLst/>
                        </a:rPr>
                        <a:t>OPEN (%)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</a:rPr>
                        <a:t>추출시간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 err="1">
                          <a:effectLst/>
                        </a:rPr>
                        <a:t>이너도어</a:t>
                      </a:r>
                      <a:r>
                        <a:rPr lang="ko-KR" altLang="en-US" sz="900" b="1" u="none" strike="noStrike" dirty="0">
                          <a:effectLst/>
                        </a:rPr>
                        <a:t> </a:t>
                      </a:r>
                      <a:r>
                        <a:rPr lang="en-US" sz="900" b="1" u="none" strike="noStrike" dirty="0">
                          <a:effectLst/>
                        </a:rPr>
                        <a:t>OPEN (%)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</a:rPr>
                        <a:t>추출시간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 err="1">
                          <a:effectLst/>
                        </a:rPr>
                        <a:t>이너도어</a:t>
                      </a:r>
                      <a:r>
                        <a:rPr lang="ko-KR" altLang="en-US" sz="900" b="1" u="none" strike="noStrike" dirty="0">
                          <a:effectLst/>
                        </a:rPr>
                        <a:t> </a:t>
                      </a:r>
                      <a:r>
                        <a:rPr lang="en-US" sz="900" b="1" u="none" strike="noStrike" dirty="0">
                          <a:effectLst/>
                        </a:rPr>
                        <a:t>OPEN (%)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</a:rPr>
                        <a:t>추출시간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748999"/>
                  </a:ext>
                </a:extLst>
              </a:tr>
              <a:tr h="12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일반 상태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100%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100%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100%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803504"/>
                  </a:ext>
                </a:extLst>
              </a:tr>
              <a:tr h="12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0.1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100%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100%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100%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485121"/>
                  </a:ext>
                </a:extLst>
              </a:tr>
              <a:tr h="12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0.2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90%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90%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90%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537342"/>
                  </a:ext>
                </a:extLst>
              </a:tr>
              <a:tr h="12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0.3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90%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90%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90%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497314"/>
                  </a:ext>
                </a:extLst>
              </a:tr>
              <a:tr h="12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0.4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-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90%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90%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90%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615844"/>
                  </a:ext>
                </a:extLst>
              </a:tr>
              <a:tr h="12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0.5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중간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265518"/>
                  </a:ext>
                </a:extLst>
              </a:tr>
              <a:tr h="12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0.6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80%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5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260608"/>
                  </a:ext>
                </a:extLst>
              </a:tr>
              <a:tr h="12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0.7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405434"/>
                  </a:ext>
                </a:extLst>
              </a:tr>
              <a:tr h="12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0.8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70%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70%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70%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239095"/>
                  </a:ext>
                </a:extLst>
              </a:tr>
              <a:tr h="12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0.9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70%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70%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70%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247241"/>
                  </a:ext>
                </a:extLst>
              </a:tr>
              <a:tr h="12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완전 쏠림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70%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70%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70%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2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8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040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9257207" y="332656"/>
            <a:ext cx="3309987" cy="158417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과제계획서 작성 완료 후 절차 안내</a:t>
            </a: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sz="10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과제계획서 작성 후 </a:t>
            </a:r>
            <a:r>
              <a:rPr lang="ko-KR" altLang="en-US" sz="1000" b="1" u="sng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메일 내 기한까지 </a:t>
            </a:r>
            <a:r>
              <a:rPr lang="ko-KR" altLang="en-US" sz="1000" b="1" u="sng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기술전략팀</a:t>
            </a:r>
            <a:endParaRPr lang="en-US" altLang="ko-KR" sz="1000" b="1" u="sng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b="1" u="sng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담당자에게 계획서 파일을 </a:t>
            </a:r>
            <a:r>
              <a:rPr lang="ko-KR" altLang="en-US" sz="1000" b="1" u="sng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회신</a:t>
            </a:r>
            <a:r>
              <a:rPr lang="ko-KR" altLang="en-US" sz="10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주셔야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합니다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(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성능 지표 및 일정 先 검토 진행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endParaRPr lang="en-US" altLang="ko-KR" sz="1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lang="ko-KR" altLang="en-US" sz="10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기술전략팀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사전 검수 후 수정사항에 대해</a:t>
            </a:r>
            <a:endParaRPr lang="en-US" altLang="ko-KR" sz="1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개별 연락드릴 예정입니다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(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검토 필요 시 수정 요청 예정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5639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2917</TotalTime>
  <Words>588</Words>
  <Application>Microsoft Office PowerPoint</Application>
  <PresentationFormat>화면 슬라이드 쇼(4:3)</PresentationFormat>
  <Paragraphs>199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Coway</dc:creator>
  <cp:lastModifiedBy>박찬흠[Water전장개발팀/팀원]</cp:lastModifiedBy>
  <cp:revision>355</cp:revision>
  <cp:lastPrinted>2022-10-11T04:01:00Z</cp:lastPrinted>
  <dcterms:created xsi:type="dcterms:W3CDTF">2018-10-12T07:43:35Z</dcterms:created>
  <dcterms:modified xsi:type="dcterms:W3CDTF">2025-12-23T05:23:02Z</dcterms:modified>
</cp:coreProperties>
</file>